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04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Quantum Graph Convolutional Networks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4ECDC4"/>
                </a:solidFill>
              </a:defRPr>
            </a:pPr>
            <a:r>
              <a:t>A Theory-to-Implementation Guide for Power Grid Reliability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F2048"/>
                </a:solidFill>
              </a:defRPr>
            </a:pPr>
            <a:r>
              <a:t>Abstract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51560"/>
            <a:ext cx="8229600" cy="0"/>
          </a:xfrm>
          <a:prstGeom prst="line">
            <a:avLst/>
          </a:prstGeom>
          <a:ln w="38100">
            <a:solidFill>
              <a:srgbClr val="FF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This project develops a Quantum Graph Convolutional Network (QGCN) to predict power grid risk.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 b="0">
                <a:solidFill>
                  <a:srgbClr val="323232"/>
                </a:solidFill>
              </a:defRPr>
            </a:pPr>
            <a:r>
              <a:t>The power grid is modeled as a network of connected substations.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 b="0">
                <a:solidFill>
                  <a:srgbClr val="323232"/>
                </a:solidFill>
              </a:defRPr>
            </a:pPr>
            <a:r>
              <a:t>The model learns from voltage, power, and load patterns across the full network.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 b="1">
                <a:solidFill>
                  <a:srgbClr val="323232"/>
                </a:solidFill>
              </a:defRPr>
            </a:pPr>
            <a:r>
              <a:t>Main Contribution: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 b="0">
                <a:solidFill>
                  <a:srgbClr val="323232"/>
                </a:solidFill>
              </a:defRPr>
            </a:pPr>
            <a:r>
              <a:t>A complete phase-wise implementation from data modeling to risk prediction.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 b="0">
                <a:solidFill>
                  <a:srgbClr val="323232"/>
                </a:solidFill>
              </a:defRPr>
            </a:pPr>
            <a:r>
              <a:t>A hybrid approach that combines graph learning ideas with quantum feature processing.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 b="1">
                <a:solidFill>
                  <a:srgbClr val="323232"/>
                </a:solidFill>
              </a:defRPr>
            </a:pPr>
            <a:r>
              <a:t>Outcome: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 b="0">
                <a:solidFill>
                  <a:srgbClr val="323232"/>
                </a:solidFill>
              </a:defRPr>
            </a:pPr>
            <a:r>
              <a:t>The system provides an early warning score for possible grid instability.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 b="0">
                <a:solidFill>
                  <a:srgbClr val="323232"/>
                </a:solidFill>
              </a:defRPr>
            </a:pPr>
            <a:r>
              <a:t>This helps operators take preventive action and improve reliability.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F2048"/>
                </a:solidFill>
              </a:defRPr>
            </a:pPr>
            <a:r>
              <a:t>Problem Statement &amp; Motivation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51560"/>
            <a:ext cx="8229600" cy="0"/>
          </a:xfrm>
          <a:prstGeom prst="line">
            <a:avLst/>
          </a:prstGeom>
          <a:ln w="38100">
            <a:solidFill>
              <a:srgbClr val="FF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 b="1">
                <a:solidFill>
                  <a:srgbClr val="323232"/>
                </a:solidFill>
              </a:defRPr>
            </a:pPr>
            <a:r>
              <a:t>Goal: Predict grid instability early so operators can act before failure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 b="0">
                <a:solidFill>
                  <a:srgbClr val="323232"/>
                </a:solidFill>
              </a:defRPr>
            </a:pPr>
            <a:r>
              <a:t>Power grid = graph (substations are nodes, transmission lines are edges)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 b="0">
                <a:solidFill>
                  <a:srgbClr val="323232"/>
                </a:solidFill>
              </a:defRPr>
            </a:pPr>
            <a:r>
              <a:t>Failures spread through connections, not isolated points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 b="1">
                <a:solidFill>
                  <a:srgbClr val="323232"/>
                </a:solidFill>
              </a:defRPr>
            </a:pPr>
            <a:r>
              <a:t>Why Classical Methods Struggle: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 b="0">
                <a:solidFill>
                  <a:srgbClr val="323232"/>
                </a:solidFill>
              </a:defRPr>
            </a:pPr>
            <a:r>
              <a:t>Need to model both node features and network topology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 b="0">
                <a:solidFill>
                  <a:srgbClr val="323232"/>
                </a:solidFill>
              </a:defRPr>
            </a:pPr>
            <a:r>
              <a:t>Long-range dependencies are hard to capture efficiently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 b="0">
                <a:solidFill>
                  <a:srgbClr val="323232"/>
                </a:solidFill>
              </a:defRPr>
            </a:pPr>
            <a:r>
              <a:t>High-dimensional state estimation is computationally expensive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 b="1">
                <a:solidFill>
                  <a:srgbClr val="323232"/>
                </a:solidFill>
              </a:defRPr>
            </a:pPr>
            <a:r>
              <a:t>QGCN Idea (Easy View):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 b="0">
                <a:solidFill>
                  <a:srgbClr val="323232"/>
                </a:solidFill>
              </a:defRPr>
            </a:pPr>
            <a:r>
              <a:t>Encode each node into qubits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 b="0">
                <a:solidFill>
                  <a:srgbClr val="323232"/>
                </a:solidFill>
              </a:defRPr>
            </a:pPr>
            <a:r>
              <a:t>Entangle neighboring nodes to share information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 b="0">
                <a:solidFill>
                  <a:srgbClr val="323232"/>
                </a:solidFill>
              </a:defRPr>
            </a:pPr>
            <a:r>
              <a:t>Read out one risk score per node and one global risk score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F2048"/>
                </a:solidFill>
              </a:defRPr>
            </a:pPr>
            <a:r>
              <a:t>Simple Theory Behind the Model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51560"/>
            <a:ext cx="8229600" cy="0"/>
          </a:xfrm>
          <a:prstGeom prst="line">
            <a:avLst/>
          </a:prstGeom>
          <a:ln w="38100">
            <a:solidFill>
              <a:srgbClr val="FF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Each substation has operational features such as voltage, power, and load.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 b="0">
                <a:solidFill>
                  <a:srgbClr val="323232"/>
                </a:solidFill>
              </a:defRPr>
            </a:pPr>
            <a:r>
              <a:t>These features are converted into quantum-friendly values for processing.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 b="0">
                <a:solidFill>
                  <a:srgbClr val="323232"/>
                </a:solidFill>
              </a:defRPr>
            </a:pPr>
            <a:r>
              <a:t>This conversion helps the model capture complex relationships efficiently.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 b="1">
                <a:solidFill>
                  <a:srgbClr val="323232"/>
                </a:solidFill>
              </a:defRPr>
            </a:pPr>
            <a:r>
              <a:t>Why Quantum Processing Helps: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 b="0">
                <a:solidFill>
                  <a:srgbClr val="323232"/>
                </a:solidFill>
              </a:defRPr>
            </a:pPr>
            <a:r>
              <a:t>It can represent many interaction patterns in a compact way.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 b="0">
                <a:solidFill>
                  <a:srgbClr val="323232"/>
                </a:solidFill>
              </a:defRPr>
            </a:pPr>
            <a:r>
              <a:t>It captures non-linear behavior that is common in real power systems.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 b="0">
                <a:solidFill>
                  <a:srgbClr val="323232"/>
                </a:solidFill>
              </a:defRPr>
            </a:pPr>
            <a:r>
              <a:t>It supports network-level reasoning instead of isolated node decisions.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 b="1">
                <a:solidFill>
                  <a:srgbClr val="323232"/>
                </a:solidFill>
              </a:defRPr>
            </a:pPr>
            <a:r>
              <a:t>Practical Meaning: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 b="0">
                <a:solidFill>
                  <a:srgbClr val="323232"/>
                </a:solidFill>
              </a:defRPr>
            </a:pPr>
            <a:r>
              <a:t>The model remains data-driven and practical for engineering use.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 b="0">
                <a:solidFill>
                  <a:srgbClr val="323232"/>
                </a:solidFill>
              </a:defRPr>
            </a:pPr>
            <a:r>
              <a:t>Better feature representation leads to earlier and more reliable warnings.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F2048"/>
                </a:solidFill>
              </a:defRPr>
            </a:pPr>
            <a:r>
              <a:t>Model Architecture in Simple Steps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51560"/>
            <a:ext cx="8229600" cy="0"/>
          </a:xfrm>
          <a:prstGeom prst="line">
            <a:avLst/>
          </a:prstGeom>
          <a:ln w="38100">
            <a:solidFill>
              <a:srgbClr val="FF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 b="1">
                <a:solidFill>
                  <a:srgbClr val="323232"/>
                </a:solidFill>
              </a:defRPr>
            </a:pPr>
            <a:r>
              <a:t>Step 1: Feature Encoding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 b="0">
                <a:solidFill>
                  <a:srgbClr val="323232"/>
                </a:solidFill>
              </a:defRPr>
            </a:pPr>
            <a:r>
              <a:t>Convert each substation's features into a quantum-ready format.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 b="1">
                <a:solidFill>
                  <a:srgbClr val="323232"/>
                </a:solidFill>
              </a:defRPr>
            </a:pPr>
            <a:r>
              <a:t>Step 2: Quantum Processing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 b="0">
                <a:solidFill>
                  <a:srgbClr val="323232"/>
                </a:solidFill>
              </a:defRPr>
            </a:pPr>
            <a:r>
              <a:t>Use trainable quantum layers to learn important signal patterns.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 b="1">
                <a:solidFill>
                  <a:srgbClr val="323232"/>
                </a:solidFill>
              </a:defRPr>
            </a:pPr>
            <a:r>
              <a:t>Step 3: Message Passing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 b="0">
                <a:solidFill>
                  <a:srgbClr val="323232"/>
                </a:solidFill>
              </a:defRPr>
            </a:pPr>
            <a:r>
              <a:t>Share information between connected substations.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 b="0">
                <a:solidFill>
                  <a:srgbClr val="323232"/>
                </a:solidFill>
              </a:defRPr>
            </a:pPr>
            <a:r>
              <a:t>This mimics how disturbances spread through the grid.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 b="1">
                <a:solidFill>
                  <a:srgbClr val="323232"/>
                </a:solidFill>
              </a:defRPr>
            </a:pPr>
            <a:r>
              <a:t>Step 4: Risk Prediction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 b="0">
                <a:solidFill>
                  <a:srgbClr val="323232"/>
                </a:solidFill>
              </a:defRPr>
            </a:pPr>
            <a:r>
              <a:t>Convert learned node patterns into a clear probability of instability.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 b="0">
                <a:solidFill>
                  <a:srgbClr val="323232"/>
                </a:solidFill>
              </a:defRPr>
            </a:pPr>
            <a:r>
              <a:t>Use this probability as an early-warning indicator for operators.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F2048"/>
                </a:solidFill>
              </a:defRPr>
            </a:pPr>
            <a:r>
              <a:t>Implementation Blueprint (Phase-by-Phase)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51560"/>
            <a:ext cx="8229600" cy="0"/>
          </a:xfrm>
          <a:prstGeom prst="line">
            <a:avLst/>
          </a:prstGeom>
          <a:ln w="38100">
            <a:solidFill>
              <a:srgbClr val="FF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 b="1">
                <a:solidFill>
                  <a:srgbClr val="323232"/>
                </a:solidFill>
              </a:defRPr>
            </a:pPr>
            <a:r>
              <a:t>Phase 1 - Data Modeling (phase1_data_modeling.py)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 b="0">
                <a:solidFill>
                  <a:srgbClr val="323232"/>
                </a:solidFill>
              </a:defRPr>
            </a:pPr>
            <a:r>
              <a:t>Create IEEE 14-bus graph; generate X shape (N, 14, 5) and labels 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 b="1">
                <a:solidFill>
                  <a:srgbClr val="323232"/>
                </a:solidFill>
              </a:defRPr>
            </a:pPr>
            <a:r>
              <a:t>Phase 2 - Quantum Embedding (phase2_quantum_embedding.py)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 b="0">
                <a:solidFill>
                  <a:srgbClr val="323232"/>
                </a:solidFill>
              </a:defRPr>
            </a:pPr>
            <a:r>
              <a:t>Convert each node's 5 features into 4-qubit encoded representation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 b="1">
                <a:solidFill>
                  <a:srgbClr val="323232"/>
                </a:solidFill>
              </a:defRPr>
            </a:pPr>
            <a:r>
              <a:t>Phase 3 - Quantum Message Passing (phase3_quantum_layer.py)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 b="0">
                <a:solidFill>
                  <a:srgbClr val="323232"/>
                </a:solidFill>
              </a:defRPr>
            </a:pPr>
            <a:r>
              <a:t>Apply VQC + neighbor interaction to produce robust node embeddings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 b="1">
                <a:solidFill>
                  <a:srgbClr val="323232"/>
                </a:solidFill>
              </a:defRPr>
            </a:pPr>
            <a:r>
              <a:t>Phase 4 - Training (phase4_training.py)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 b="0">
                <a:solidFill>
                  <a:srgbClr val="323232"/>
                </a:solidFill>
              </a:defRPr>
            </a:pPr>
            <a:r>
              <a:t>Train the model to separate stable and unstable operating conditions.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 b="0">
                <a:solidFill>
                  <a:srgbClr val="323232"/>
                </a:solidFill>
              </a:defRPr>
            </a:pPr>
            <a:r>
              <a:t>Output: probability of instability for each scenario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F2048"/>
                </a:solidFill>
              </a:defRPr>
            </a:pPr>
            <a:r>
              <a:t>Novelty of This Work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51560"/>
            <a:ext cx="8229600" cy="0"/>
          </a:xfrm>
          <a:prstGeom prst="line">
            <a:avLst/>
          </a:prstGeom>
          <a:ln w="38100">
            <a:solidFill>
              <a:srgbClr val="FF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This project contributes a practical and structured QGCN workflow for power systems.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 b="1">
                <a:solidFill>
                  <a:srgbClr val="323232"/>
                </a:solidFill>
              </a:defRPr>
            </a:pPr>
            <a:r>
              <a:t>Key Novel Elements: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 b="0">
                <a:solidFill>
                  <a:srgbClr val="323232"/>
                </a:solidFill>
              </a:defRPr>
            </a:pPr>
            <a:r>
              <a:t>Phase-wise end-to-end implementation from grid graph creation to risk prediction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 b="0">
                <a:solidFill>
                  <a:srgbClr val="323232"/>
                </a:solidFill>
              </a:defRPr>
            </a:pPr>
            <a:r>
              <a:t>Hybrid design: graph topology learning + quantum-inspired feature processing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 b="0">
                <a:solidFill>
                  <a:srgbClr val="323232"/>
                </a:solidFill>
              </a:defRPr>
            </a:pPr>
            <a:r>
              <a:t>Focus on operational relevance: output is an actionable instability probability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 b="1">
                <a:solidFill>
                  <a:srgbClr val="323232"/>
                </a:solidFill>
              </a:defRPr>
            </a:pPr>
            <a:r>
              <a:t>Why This Is Different: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 b="0">
                <a:solidFill>
                  <a:srgbClr val="323232"/>
                </a:solidFill>
              </a:defRPr>
            </a:pPr>
            <a:r>
              <a:t>Not just a theoretical concept; includes executable modules for each stage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 b="0">
                <a:solidFill>
                  <a:srgbClr val="323232"/>
                </a:solidFill>
              </a:defRPr>
            </a:pPr>
            <a:r>
              <a:t>Benchmarked against simple classical baselines to show practical benefit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 b="0">
                <a:solidFill>
                  <a:srgbClr val="323232"/>
                </a:solidFill>
              </a:defRPr>
            </a:pPr>
            <a:r>
              <a:t>Designed as a reusable template for larger smart-grid reliability studies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F2048"/>
                </a:solidFill>
              </a:defRPr>
            </a:pPr>
            <a:r>
              <a:t>How It Helps: Results in Easy Terms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51560"/>
            <a:ext cx="8229600" cy="0"/>
          </a:xfrm>
          <a:prstGeom prst="line">
            <a:avLst/>
          </a:prstGeom>
          <a:ln w="38100">
            <a:solidFill>
              <a:srgbClr val="FF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 b="1">
                <a:solidFill>
                  <a:srgbClr val="323232"/>
                </a:solidFill>
              </a:defRPr>
            </a:pPr>
            <a:r>
              <a:t>Model Performance (IEEE 14-bus, 250 samples):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 b="0">
                <a:solidFill>
                  <a:srgbClr val="323232"/>
                </a:solidFill>
              </a:defRPr>
            </a:pPr>
            <a:r>
              <a:t>Run src/demo.py to generate current CPU-mode metrics in docs/EXECUTION_SUMMARY.md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 b="0">
                <a:solidFill>
                  <a:srgbClr val="323232"/>
                </a:solidFill>
              </a:defRPr>
            </a:pPr>
            <a:r>
              <a:t>Interpretation: use those values for current run-specific discussion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 b="1">
                <a:solidFill>
                  <a:srgbClr val="323232"/>
                </a:solidFill>
              </a:defRPr>
            </a:pPr>
            <a:r>
              <a:t>Operational Value: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 b="0">
                <a:solidFill>
                  <a:srgbClr val="323232"/>
                </a:solidFill>
              </a:defRPr>
            </a:pPr>
            <a:r>
              <a:t>Early-warning signal for dispatch/control-room teams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 b="0">
                <a:solidFill>
                  <a:srgbClr val="323232"/>
                </a:solidFill>
              </a:defRPr>
            </a:pPr>
            <a:r>
              <a:t>Supports preventive actions: load balancing, rerouting, reserve activation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 b="0">
                <a:solidFill>
                  <a:srgbClr val="323232"/>
                </a:solidFill>
              </a:defRPr>
            </a:pPr>
            <a:r>
              <a:t>Can be integrated as a risk-scoring module in smart-grid software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 b="1">
                <a:solidFill>
                  <a:srgbClr val="323232"/>
                </a:solidFill>
              </a:defRPr>
            </a:pPr>
            <a:r>
              <a:t>Simple Mental Model: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 b="0">
                <a:solidFill>
                  <a:srgbClr val="323232"/>
                </a:solidFill>
              </a:defRPr>
            </a:pPr>
            <a:r>
              <a:t>Input: grid snapshot -&gt; Process: quantum graph reasoning -&gt; Output: risk probability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 b="0">
                <a:solidFill>
                  <a:srgbClr val="323232"/>
                </a:solidFill>
              </a:defRPr>
            </a:pPr>
            <a:r>
              <a:t>If probability is high, operator gets an actionable alert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 b="0">
                <a:solidFill>
                  <a:srgbClr val="323232"/>
                </a:solidFill>
              </a:defRPr>
            </a:pPr>
            <a:r>
              <a:t>Result: better reliability, lower outage risk, safer smart-city infrastructure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F2048"/>
                </a:solidFill>
              </a:defRPr>
            </a:pPr>
            <a:r>
              <a:t>Baseline Comparison (Why QGCN Is Useful)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51560"/>
            <a:ext cx="8229600" cy="0"/>
          </a:xfrm>
          <a:prstGeom prst="line">
            <a:avLst/>
          </a:prstGeom>
          <a:ln w="38100">
            <a:solidFill>
              <a:srgbClr val="FF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  <a:r>
              <a:t>We compared QGCN against simple classical baselines.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 b="1">
                <a:solidFill>
                  <a:srgbClr val="323232"/>
                </a:solidFill>
              </a:defRPr>
            </a:pPr>
            <a:r>
              <a:t>Voltage Rule Baseline: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 b="0">
                <a:solidFill>
                  <a:srgbClr val="323232"/>
                </a:solidFill>
              </a:defRPr>
            </a:pPr>
            <a:r>
              <a:t>High accuracy on easy cases, but low recall for failure detection.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 b="0">
                <a:solidFill>
                  <a:srgbClr val="323232"/>
                </a:solidFill>
              </a:defRPr>
            </a:pPr>
            <a:r>
              <a:t>Accuracy 0.88, Recall 0.40, F1 0.57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 b="1">
                <a:solidFill>
                  <a:srgbClr val="323232"/>
                </a:solidFill>
              </a:defRPr>
            </a:pPr>
            <a:r>
              <a:t>Logistic Regression Baseline: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 b="0">
                <a:solidFill>
                  <a:srgbClr val="323232"/>
                </a:solidFill>
              </a:defRPr>
            </a:pPr>
            <a:r>
              <a:t>Struggles on complex network interactions.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 b="0">
                <a:solidFill>
                  <a:srgbClr val="323232"/>
                </a:solidFill>
              </a:defRPr>
            </a:pPr>
            <a:r>
              <a:t>Accuracy 0.68, Recall 0.10, F1 0.11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323232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 b="1">
                <a:solidFill>
                  <a:srgbClr val="323232"/>
                </a:solidFill>
              </a:defRPr>
            </a:pPr>
            <a:r>
              <a:t>QGCN Project Result: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 b="0">
                <a:solidFill>
                  <a:srgbClr val="323232"/>
                </a:solidFill>
              </a:defRPr>
            </a:pPr>
            <a:r>
              <a:t>Balanced detection for real operations.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 b="0">
                <a:solidFill>
                  <a:srgbClr val="323232"/>
                </a:solidFill>
              </a:defRPr>
            </a:pPr>
            <a:r>
              <a:t>Use docs/EXECUTION_SUMMARY.md for run-specific QGCN metrics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 b="0">
                <a:solidFill>
                  <a:srgbClr val="323232"/>
                </a:solidFill>
              </a:defRPr>
            </a:pPr>
            <a:r>
              <a:t>Conclusion: QGCN is better when the priority is catching risky states early.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