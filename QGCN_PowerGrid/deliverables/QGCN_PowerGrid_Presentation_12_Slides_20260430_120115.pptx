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082A4B"/>
                </a:solidFill>
              </a:defRPr>
            </a:pPr>
            <a:r>
              <a:t>Quantum Graph Convolutional Network</a:t>
            </a:r>
          </a:p>
          <a:p>
            <a:pPr algn="ctr">
              <a:defRPr sz="3000">
                <a:solidFill>
                  <a:srgbClr val="E65A46"/>
                </a:solidFill>
              </a:defRPr>
            </a:pPr>
            <a:r>
              <a:t>Power Grid Reliability Prediction</a:t>
            </a:r>
          </a:p>
          <a:p>
            <a:pPr algn="ctr">
              <a:defRPr sz="1800">
                <a:solidFill>
                  <a:srgbClr val="464646"/>
                </a:solidFill>
              </a:defRPr>
            </a:pPr>
            <a:r>
              <a:t>Final Project Presentation (12 Slides)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2846"/>
                </a:solidFill>
              </a:defRPr>
            </a:pPr>
            <a:r>
              <a:t>1. Problem Statement and Objective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8412480" cy="0"/>
          </a:xfrm>
          <a:prstGeom prst="line">
            <a:avLst/>
          </a:prstGeom>
          <a:ln w="31750">
            <a:solidFill>
              <a:srgbClr val="E65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5156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2000">
                <a:solidFill>
                  <a:srgbClr val="2D2D2D"/>
                </a:solidFill>
              </a:defRPr>
            </a:pPr>
            <a:r>
              <a:t>Goal: predict unstable grid states before cascading failures.</a:t>
            </a:r>
          </a:p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Grid modeled as a graph: substations = nodes, lines = edges.</a:t>
            </a:r>
          </a:p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Need to combine node signals + network connectivity patterns.</a:t>
            </a:r>
          </a:p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Deliverable target: reproducible CPU run with zero training epochs.</a:t>
            </a:r>
          </a:p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Project scope: phase-wise implementation, outputs, baselines, documents.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2846"/>
                </a:solidFill>
              </a:defRPr>
            </a:pPr>
            <a:r>
              <a:t>2. End-to-End Pipeline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8412480" cy="0"/>
          </a:xfrm>
          <a:prstGeom prst="line">
            <a:avLst/>
          </a:prstGeom>
          <a:ln w="31750">
            <a:solidFill>
              <a:srgbClr val="E65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5156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2000">
                <a:solidFill>
                  <a:srgbClr val="2D2D2D"/>
                </a:solidFill>
              </a:defRPr>
            </a:pPr>
            <a:r>
              <a:t>Phase 1: build IEEE 14-bus graph + synthetic operational data.</a:t>
            </a:r>
          </a:p>
          <a:p>
            <a:pPr>
              <a:spcAft>
                <a:spcPts val="500"/>
              </a:spcAft>
              <a:defRPr b="1" sz="2000">
                <a:solidFill>
                  <a:srgbClr val="2D2D2D"/>
                </a:solidFill>
              </a:defRPr>
            </a:pPr>
            <a:r>
              <a:t>Phase 2: encode node features into quantum states.</a:t>
            </a:r>
          </a:p>
          <a:p>
            <a:pPr>
              <a:spcAft>
                <a:spcPts val="500"/>
              </a:spcAft>
              <a:defRPr b="1" sz="2000">
                <a:solidFill>
                  <a:srgbClr val="2D2D2D"/>
                </a:solidFill>
              </a:defRPr>
            </a:pPr>
            <a:r>
              <a:t>Phase 3: variational quantum circuit + graph message passing.</a:t>
            </a:r>
          </a:p>
          <a:p>
            <a:pPr>
              <a:spcAft>
                <a:spcPts val="500"/>
              </a:spcAft>
              <a:defRPr b="1" sz="2000">
                <a:solidFill>
                  <a:srgbClr val="2D2D2D"/>
                </a:solidFill>
              </a:defRPr>
            </a:pPr>
            <a:r>
              <a:t>Phase 4: hybrid readout, metrics, visual outputs.</a:t>
            </a:r>
          </a:p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Execution mode used: CPU-only, num_epochs = 0 (no training loop).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2846"/>
                </a:solidFill>
              </a:defRPr>
            </a:pPr>
            <a:r>
              <a:t>3. Phase 1 - Graph Modeling (Code + Output)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8412480" cy="0"/>
          </a:xfrm>
          <a:prstGeom prst="line">
            <a:avLst/>
          </a:prstGeom>
          <a:ln w="31750">
            <a:solidFill>
              <a:srgbClr val="E65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143000"/>
            <a:ext cx="4023360" cy="1828800"/>
          </a:xfrm>
          <a:prstGeom prst="rect">
            <a:avLst/>
          </a:prstGeom>
          <a:solidFill>
            <a:srgbClr val="1C222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E6F0FA"/>
                </a:solidFill>
                <a:latin typeface="Consolas"/>
              </a:defRPr>
            </a:pPr>
            <a:r>
              <a:t># phase1_data_modeling.py</a:t>
            </a:r>
            <a:br/>
            <a:r>
              <a:t>grid = PowerGridSimulator(config=GRID_CONFIG)</a:t>
            </a:r>
            <a:br/>
            <a:r>
              <a:t>X, y = grid.generate_node_features(num_samples=250)</a:t>
            </a:r>
            <a:br/>
            <a:r>
              <a:t>grid.visualize_grid(save_path='outputs/01_grid_topology.png')</a:t>
            </a:r>
          </a:p>
        </p:txBody>
      </p:sp>
      <p:pic>
        <p:nvPicPr>
          <p:cNvPr id="5" name="Picture 4" descr="01_grid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3931920" cy="33635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15468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Output proof: IEEE 14-bus topology image generated.</a:t>
            </a:r>
          </a:p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Dataset shape: (samples, 14 nodes, 5 features).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2846"/>
                </a:solidFill>
              </a:defRPr>
            </a:pPr>
            <a:r>
              <a:t>4. Phase 2 - Quantum Feature Embedding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8412480" cy="0"/>
          </a:xfrm>
          <a:prstGeom prst="line">
            <a:avLst/>
          </a:prstGeom>
          <a:ln w="31750">
            <a:solidFill>
              <a:srgbClr val="E65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143000"/>
            <a:ext cx="4023360" cy="2148840"/>
          </a:xfrm>
          <a:prstGeom prst="rect">
            <a:avLst/>
          </a:prstGeom>
          <a:solidFill>
            <a:srgbClr val="1C222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E6F0FA"/>
                </a:solidFill>
                <a:latin typeface="Consolas"/>
              </a:defRPr>
            </a:pPr>
            <a:r>
              <a:t># phase2_quantum_embedding.py</a:t>
            </a:r>
            <a:br/>
            <a:r>
              <a:t>for each qubit i:</a:t>
            </a:r>
            <a:br/>
            <a:r>
              <a:t>    qml.RX(theta_i, wires=i)</a:t>
            </a:r>
            <a:br/>
            <a:r>
              <a:t>    qml.RY(phi_i, wires=i)</a:t>
            </a:r>
            <a:br/>
            <a:r>
              <a:t>entangle with CNOT ladder</a:t>
            </a:r>
            <a:br/>
            <a:r>
              <a:t>measure [expval(PauliZ(i))]</a:t>
            </a:r>
          </a:p>
        </p:txBody>
      </p:sp>
      <p:pic>
        <p:nvPicPr>
          <p:cNvPr id="5" name="Picture 4" descr="05_quantum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3931920" cy="32197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5204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Fix applied: removed constant embedding collapse from old encoding.</a:t>
            </a:r>
          </a:p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Now each node gets informative 4-value quantum representation.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2846"/>
                </a:solidFill>
              </a:defRPr>
            </a:pPr>
            <a:r>
              <a:t>5. Phase 3 - QGCN Layer and Message Passing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8412480" cy="0"/>
          </a:xfrm>
          <a:prstGeom prst="line">
            <a:avLst/>
          </a:prstGeom>
          <a:ln w="31750">
            <a:solidFill>
              <a:srgbClr val="E65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143000"/>
            <a:ext cx="4206240" cy="2011680"/>
          </a:xfrm>
          <a:prstGeom prst="rect">
            <a:avLst/>
          </a:prstGeom>
          <a:solidFill>
            <a:srgbClr val="1C222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E6F0FA"/>
                </a:solidFill>
                <a:latin typeface="Consolas"/>
              </a:defRPr>
            </a:pPr>
            <a:r>
              <a:t># phase3_quantum_layer.py</a:t>
            </a:r>
            <a:br/>
            <a:r>
              <a:t>node_output = VQC(node_embedding)</a:t>
            </a:r>
            <a:br/>
            <a:r>
              <a:t>neighbor_msg = mean(neighbor_embeddings)</a:t>
            </a:r>
            <a:br/>
            <a:r>
              <a:t>updated = 0.7 * node_output + 0.3 * neighbor_msg</a:t>
            </a:r>
            <a:br/>
            <a:r>
              <a:t>classical = dot(updated, output_weights) +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37560"/>
            <a:ext cx="4206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Quantum part extracts non-linear node features.</a:t>
            </a:r>
          </a:p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Graph part propagates neighborhood context.</a:t>
            </a:r>
          </a:p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Hybrid readout returns per-node risk scores.</a:t>
            </a:r>
          </a:p>
        </p:txBody>
      </p:sp>
      <p:pic>
        <p:nvPicPr>
          <p:cNvPr id="6" name="Picture 5" descr="04_grid_risk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43000"/>
            <a:ext cx="3749039" cy="30365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2846"/>
                </a:solidFill>
              </a:defRPr>
            </a:pPr>
            <a:r>
              <a:t>6. Phase 4 - CPU-Friendly Inference Mode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8412480" cy="0"/>
          </a:xfrm>
          <a:prstGeom prst="line">
            <a:avLst/>
          </a:prstGeom>
          <a:ln w="31750">
            <a:solidFill>
              <a:srgbClr val="E65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143000"/>
            <a:ext cx="3840480" cy="2011680"/>
          </a:xfrm>
          <a:prstGeom prst="rect">
            <a:avLst/>
          </a:prstGeom>
          <a:solidFill>
            <a:srgbClr val="1C222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E6F0FA"/>
                </a:solidFill>
                <a:latin typeface="Consolas"/>
              </a:defRPr>
            </a:pPr>
            <a:r>
              <a:t># config.py</a:t>
            </a:r>
            <a:br/>
            <a:r>
              <a:t>TRAINING_CONFIG = {</a:t>
            </a:r>
            <a:br/>
            <a:r>
              <a:t>    'num_epochs': 0,</a:t>
            </a:r>
            <a:br/>
            <a:r>
              <a:t>    ...</a:t>
            </a:r>
            <a:br/>
            <a:r>
              <a:t>}</a:t>
            </a:r>
            <a:br/>
            <a:r>
              <a:t># phase4_training.py</a:t>
            </a:r>
            <a:br/>
            <a:r>
              <a:t>if epochs &lt;= 0: return</a:t>
            </a:r>
          </a:p>
        </p:txBody>
      </p:sp>
      <p:pic>
        <p:nvPicPr>
          <p:cNvPr id="5" name="Picture 4" descr="02_train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143000"/>
            <a:ext cx="4114800" cy="14465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3375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No GPU needed: full pipeline runs with zero epochs.</a:t>
            </a:r>
          </a:p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Still executes real quantum forward path for demonstration.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2846"/>
                </a:solidFill>
              </a:defRPr>
            </a:pPr>
            <a:r>
              <a:t>7. Output Demonstration 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8412480" cy="0"/>
          </a:xfrm>
          <a:prstGeom prst="line">
            <a:avLst/>
          </a:prstGeom>
          <a:ln w="31750">
            <a:solidFill>
              <a:srgbClr val="E65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03_predic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2443336"/>
          </a:xfrm>
          <a:prstGeom prst="rect">
            <a:avLst/>
          </a:prstGeom>
        </p:spPr>
      </p:pic>
      <p:pic>
        <p:nvPicPr>
          <p:cNvPr id="5" name="Picture 4" descr="06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114800" cy="36452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8920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Left: probability distribution for normal vs failed states.</a:t>
            </a:r>
          </a:p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Right: ROC plot generated from inference outputs.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2846"/>
                </a:solidFill>
              </a:defRPr>
            </a:pPr>
            <a:r>
              <a:t>8. Output Demonstration 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8412480" cy="0"/>
          </a:xfrm>
          <a:prstGeom prst="line">
            <a:avLst/>
          </a:prstGeom>
          <a:ln w="31750">
            <a:solidFill>
              <a:srgbClr val="E65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04_grid_risk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332813"/>
          </a:xfrm>
          <a:prstGeom prst="rect">
            <a:avLst/>
          </a:prstGeom>
        </p:spPr>
      </p:pic>
      <p:pic>
        <p:nvPicPr>
          <p:cNvPr id="5" name="Picture 4" descr="07_baselin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114800" cy="24516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8920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Heatmap highlights relative node-level risk in the grid.</a:t>
            </a:r>
          </a:p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Baseline chart compares voltage-rule and logistic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2846"/>
                </a:solidFill>
              </a:defRPr>
            </a:pPr>
            <a:r>
              <a:t>9. Run Results (Current CPU Execution)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8412480" cy="0"/>
          </a:xfrm>
          <a:prstGeom prst="line">
            <a:avLst/>
          </a:prstGeom>
          <a:ln w="31750">
            <a:solidFill>
              <a:srgbClr val="E65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8046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2000">
                <a:solidFill>
                  <a:srgbClr val="2D2D2D"/>
                </a:solidFill>
              </a:defRPr>
            </a:pPr>
            <a:r>
              <a:t>QGCN (zero-epoch inference):</a:t>
            </a:r>
          </a:p>
          <a:p>
            <a:pPr lvl="1">
              <a:spcAft>
                <a:spcPts val="500"/>
              </a:spcAft>
              <a:defRPr b="0" sz="1800">
                <a:solidFill>
                  <a:srgbClr val="2D2D2D"/>
                </a:solidFill>
              </a:defRPr>
            </a:pPr>
            <a:r>
              <a:t>Accuracy 0.1400 | Precision 0.1400 | Recall 1.0000</a:t>
            </a:r>
          </a:p>
          <a:p>
            <a:pPr lvl="1">
              <a:spcAft>
                <a:spcPts val="500"/>
              </a:spcAft>
              <a:defRPr b="0" sz="1800">
                <a:solidFill>
                  <a:srgbClr val="2D2D2D"/>
                </a:solidFill>
              </a:defRPr>
            </a:pPr>
            <a:r>
              <a:t>F1 0.2456 | AUC 0.5615</a:t>
            </a:r>
          </a:p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</a:p>
          <a:p>
            <a:pPr>
              <a:spcAft>
                <a:spcPts val="500"/>
              </a:spcAft>
              <a:defRPr b="1" sz="2000">
                <a:solidFill>
                  <a:srgbClr val="2D2D2D"/>
                </a:solidFill>
              </a:defRPr>
            </a:pPr>
            <a:r>
              <a:t>Classical baselines:</a:t>
            </a:r>
          </a:p>
          <a:p>
            <a:pPr lvl="1">
              <a:spcAft>
                <a:spcPts val="500"/>
              </a:spcAft>
              <a:defRPr b="0" sz="1800">
                <a:solidFill>
                  <a:srgbClr val="2D2D2D"/>
                </a:solidFill>
              </a:defRPr>
            </a:pPr>
            <a:r>
              <a:t>Voltage Rule -&gt; Accuracy 0.880, Recall 0.400, F1 0.571</a:t>
            </a:r>
          </a:p>
          <a:p>
            <a:pPr lvl="1">
              <a:spcAft>
                <a:spcPts val="500"/>
              </a:spcAft>
              <a:defRPr b="0" sz="1800">
                <a:solidFill>
                  <a:srgbClr val="2D2D2D"/>
                </a:solidFill>
              </a:defRPr>
            </a:pPr>
            <a:r>
              <a:t>Logistic Regression -&gt; Accuracy 0.680, Recall 0.100, F1 0.111</a:t>
            </a:r>
          </a:p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</a:p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Reference file: docs/EXECUTION_SUMMARY.md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2846"/>
                </a:solidFill>
              </a:defRPr>
            </a:pPr>
            <a:r>
              <a:t>10. Work Completed and Fixes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8412480" cy="0"/>
          </a:xfrm>
          <a:prstGeom prst="line">
            <a:avLst/>
          </a:prstGeom>
          <a:ln w="31750">
            <a:solidFill>
              <a:srgbClr val="E65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5156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2000">
                <a:solidFill>
                  <a:srgbClr val="2D2D2D"/>
                </a:solidFill>
              </a:defRPr>
            </a:pPr>
            <a:r>
              <a:t>Implemented full 4-phase project structure.</a:t>
            </a:r>
          </a:p>
          <a:p>
            <a:pPr>
              <a:spcAft>
                <a:spcPts val="500"/>
              </a:spcAft>
              <a:defRPr b="1" sz="2000">
                <a:solidFill>
                  <a:srgbClr val="2D2D2D"/>
                </a:solidFill>
              </a:defRPr>
            </a:pPr>
            <a:r>
              <a:t>Fixed quantum embedding collapse in angle encoding.</a:t>
            </a:r>
          </a:p>
          <a:p>
            <a:pPr>
              <a:spcAft>
                <a:spcPts val="500"/>
              </a:spcAft>
              <a:defRPr b="1" sz="2000">
                <a:solidFill>
                  <a:srgbClr val="2D2D2D"/>
                </a:solidFill>
              </a:defRPr>
            </a:pPr>
            <a:r>
              <a:t>Made pipeline stable with no-epoch CPU mode.</a:t>
            </a:r>
          </a:p>
          <a:p>
            <a:pPr>
              <a:spcAft>
                <a:spcPts val="500"/>
              </a:spcAft>
              <a:defRPr b="1" sz="2000">
                <a:solidFill>
                  <a:srgbClr val="2D2D2D"/>
                </a:solidFill>
              </a:defRPr>
            </a:pPr>
            <a:r>
              <a:t>Replaced synthetic demo with real QGCN inference outputs.</a:t>
            </a:r>
          </a:p>
          <a:p>
            <a:pPr>
              <a:spcAft>
                <a:spcPts val="500"/>
              </a:spcAft>
              <a:defRPr b="1" sz="2000">
                <a:solidFill>
                  <a:srgbClr val="2D2D2D"/>
                </a:solidFill>
              </a:defRPr>
            </a:pPr>
            <a:r>
              <a:t>Updated reports/presentation to remove fabricated static metrics.</a:t>
            </a:r>
          </a:p>
          <a:p>
            <a:pPr>
              <a:spcAft>
                <a:spcPts val="500"/>
              </a:spcAft>
              <a:defRPr b="1" sz="2000">
                <a:solidFill>
                  <a:srgbClr val="2D2D2D"/>
                </a:solidFill>
              </a:defRPr>
            </a:pPr>
            <a:r>
              <a:t>Verified one-click deliverables script end-to-end.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2846"/>
                </a:solidFill>
              </a:defRPr>
            </a:pPr>
            <a:r>
              <a:t>11. Deliverables and Demo Commands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8412480" cy="0"/>
          </a:xfrm>
          <a:prstGeom prst="line">
            <a:avLst/>
          </a:prstGeom>
          <a:ln w="31750">
            <a:solidFill>
              <a:srgbClr val="E65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5156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2000">
                <a:solidFill>
                  <a:srgbClr val="2D2D2D"/>
                </a:solidFill>
              </a:defRPr>
            </a:pPr>
            <a:r>
              <a:t>Main deliverables:</a:t>
            </a:r>
          </a:p>
          <a:p>
            <a:pPr lvl="1">
              <a:spcAft>
                <a:spcPts val="500"/>
              </a:spcAft>
              <a:defRPr b="0" sz="1800">
                <a:solidFill>
                  <a:srgbClr val="2D2D2D"/>
                </a:solidFill>
              </a:defRPr>
            </a:pPr>
            <a:r>
              <a:t>deliverables/QGCN_PowerGrid_Presentation_12_Slides.pptx</a:t>
            </a:r>
          </a:p>
          <a:p>
            <a:pPr lvl="1">
              <a:spcAft>
                <a:spcPts val="500"/>
              </a:spcAft>
              <a:defRPr b="0" sz="1800">
                <a:solidFill>
                  <a:srgbClr val="2D2D2D"/>
                </a:solidFill>
              </a:defRPr>
            </a:pPr>
            <a:r>
              <a:t>deliverables/QGCN_Project_Writeup_Udai_Ratinam_G.docx</a:t>
            </a:r>
          </a:p>
          <a:p>
            <a:pPr lvl="1">
              <a:spcAft>
                <a:spcPts val="500"/>
              </a:spcAft>
              <a:defRPr b="0" sz="1800">
                <a:solidFill>
                  <a:srgbClr val="2D2D2D"/>
                </a:solidFill>
              </a:defRPr>
            </a:pPr>
            <a:r>
              <a:t>docs/EXECUTION_SUMMARY.md</a:t>
            </a:r>
          </a:p>
          <a:p>
            <a:pPr lvl="1">
              <a:spcAft>
                <a:spcPts val="500"/>
              </a:spcAft>
              <a:defRPr b="0" sz="1800">
                <a:solidFill>
                  <a:srgbClr val="2D2D2D"/>
                </a:solidFill>
              </a:defRPr>
            </a:pPr>
            <a:r>
              <a:t>outputs/01..07 PNG figures</a:t>
            </a:r>
          </a:p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</a:p>
          <a:p>
            <a:pPr>
              <a:spcAft>
                <a:spcPts val="500"/>
              </a:spcAft>
              <a:defRPr b="1" sz="2000">
                <a:solidFill>
                  <a:srgbClr val="2D2D2D"/>
                </a:solidFill>
              </a:defRPr>
            </a:pPr>
            <a:r>
              <a:t>Demo commands:</a:t>
            </a:r>
          </a:p>
          <a:p>
            <a:pPr lvl="1">
              <a:spcAft>
                <a:spcPts val="500"/>
              </a:spcAft>
              <a:defRPr b="0" sz="1800">
                <a:solidFill>
                  <a:srgbClr val="2D2D2D"/>
                </a:solidFill>
              </a:defRPr>
            </a:pPr>
            <a:r>
              <a:t>python src/demo.py</a:t>
            </a:r>
          </a:p>
          <a:p>
            <a:pPr lvl="1">
              <a:spcAft>
                <a:spcPts val="500"/>
              </a:spcAft>
              <a:defRPr b="0" sz="1800">
                <a:solidFill>
                  <a:srgbClr val="2D2D2D"/>
                </a:solidFill>
              </a:defRPr>
            </a:pPr>
            <a:r>
              <a:t>python src/baseline_comparison.py</a:t>
            </a:r>
          </a:p>
          <a:p>
            <a:pPr lvl="1">
              <a:spcAft>
                <a:spcPts val="500"/>
              </a:spcAft>
              <a:defRPr b="0" sz="1800">
                <a:solidFill>
                  <a:srgbClr val="2D2D2D"/>
                </a:solidFill>
              </a:defRPr>
            </a:pPr>
            <a:r>
              <a:t>powershell -ExecutionPolicy Bypass -File ./run_deliverables.ps1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2846"/>
                </a:solidFill>
              </a:defRPr>
            </a:pPr>
            <a:r>
              <a:t>12. Conclusion and Next Steps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8412480" cy="0"/>
          </a:xfrm>
          <a:prstGeom prst="line">
            <a:avLst/>
          </a:prstGeom>
          <a:ln w="31750">
            <a:solidFill>
              <a:srgbClr val="E65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8016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2000">
                <a:solidFill>
                  <a:srgbClr val="2D2D2D"/>
                </a:solidFill>
              </a:defRPr>
            </a:pPr>
            <a:r>
              <a:t>Project is complete, reproducible, and CPU-friendly.</a:t>
            </a:r>
          </a:p>
          <a:p>
            <a:pPr>
              <a:spcAft>
                <a:spcPts val="500"/>
              </a:spcAft>
              <a:defRPr b="1" sz="2000">
                <a:solidFill>
                  <a:srgbClr val="2D2D2D"/>
                </a:solidFill>
              </a:defRPr>
            </a:pPr>
            <a:r>
              <a:t>Quantum implementation is now demonstrable from real code paths.</a:t>
            </a:r>
          </a:p>
          <a:p>
            <a:pPr>
              <a:spcAft>
                <a:spcPts val="500"/>
              </a:spcAft>
              <a:defRPr b="1" sz="2000">
                <a:solidFill>
                  <a:srgbClr val="2D2D2D"/>
                </a:solidFill>
              </a:defRPr>
            </a:pPr>
            <a:r>
              <a:t>Outputs and reports are regenerated and submission-ready.</a:t>
            </a:r>
          </a:p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Next: optional non-zero epoch experiments on stronger hardware.</a:t>
            </a:r>
          </a:p>
          <a:p>
            <a:pPr>
              <a:spcAft>
                <a:spcPts val="500"/>
              </a:spcAft>
              <a:defRPr b="0" sz="2000">
                <a:solidFill>
                  <a:srgbClr val="2D2D2D"/>
                </a:solidFill>
              </a:defRPr>
            </a:pPr>
            <a:r>
              <a:t>Next: larger IEEE grids and stronger ablation studies.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5778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65A46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